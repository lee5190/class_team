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120640" cy="5120640"/>
          </a:xfrm>
          <a:prstGeom prst="arc">
            <a:avLst/>
          </a:prstGeom>
          <a:noFill/>
          <a:ln w="190500">
            <a:solidFill>
              <a:srgbClr val="4E857F">
                <a:alpha val="7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2026 / DISCRETE MATHEMATICS PROJECT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9372600" y="448056"/>
            <a:ext cx="2121408" cy="329184"/>
          </a:xfrm>
          <a:prstGeom prst="roundRect">
            <a:avLst>
              <a:gd name="adj" fmla="val 50000"/>
            </a:avLst>
          </a:prstGeom>
          <a:solidFill>
            <a:srgbClr val="29445A"/>
          </a:solidFill>
          <a:ln w="12700">
            <a:solidFill>
              <a:srgbClr val="2944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72600" y="4663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5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RESEARCH PRESENTATION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spc="-17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이분 그래프로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9AB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공정한 조를 설계하다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67512" y="2971800"/>
            <a:ext cx="5303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성적 데이터를 기반으로 조별 평균이 균등해지도록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가중치 매칭으로 최적의 팀 조합을 찾는 앱 개발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68496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9445A"/>
          </a:solidFill>
          <a:ln w="12700">
            <a:solidFill>
              <a:srgbClr val="2944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86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5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WEIGHTED BIPARTITE GRAPH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90672" y="3968496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493627"/>
          </a:solidFill>
          <a:ln w="12700">
            <a:solidFill>
              <a:srgbClr val="49362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5" kern="0" dirty="0">
                <a:solidFill>
                  <a:srgbClr val="FFD6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MAXIMUM WEIGHT MATCHING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555480" y="1645920"/>
            <a:ext cx="1581912" cy="457200"/>
          </a:xfrm>
          <a:prstGeom prst="line">
            <a:avLst/>
          </a:prstGeom>
          <a:noFill/>
          <a:ln w="31750">
            <a:solidFill>
              <a:srgbClr val="FF8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2697480"/>
            <a:ext cx="1581912" cy="457200"/>
          </a:xfrm>
          <a:prstGeom prst="line">
            <a:avLst/>
          </a:prstGeom>
          <a:noFill/>
          <a:ln w="31750">
            <a:solidFill>
              <a:srgbClr val="FF8E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55480" y="3749040"/>
            <a:ext cx="1581912" cy="438912"/>
          </a:xfrm>
          <a:prstGeom prst="line">
            <a:avLst/>
          </a:prstGeom>
          <a:noFill/>
          <a:ln w="31750">
            <a:solidFill>
              <a:srgbClr val="FF8E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55480" y="1645920"/>
            <a:ext cx="1581912" cy="1508760"/>
          </a:xfrm>
          <a:prstGeom prst="line">
            <a:avLst/>
          </a:prstGeom>
          <a:noFill/>
          <a:ln w="12700">
            <a:solidFill>
              <a:srgbClr val="8BBF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5480" y="2697480"/>
            <a:ext cx="1581912" cy="-594360"/>
          </a:xfrm>
          <a:prstGeom prst="line">
            <a:avLst/>
          </a:prstGeom>
          <a:noFill/>
          <a:ln w="12700">
            <a:solidFill>
              <a:srgbClr val="8BBF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417320"/>
            <a:ext cx="548640" cy="548640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5636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281160" y="2468880"/>
            <a:ext cx="548640" cy="548640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6151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81160" y="3520440"/>
            <a:ext cx="548640" cy="548640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36667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899648" y="190195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99648" y="20482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899648" y="294436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99648" y="3090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899648" y="3977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99648" y="41239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0160">
            <a:solidFill>
              <a:srgbClr val="5872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1447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수학/정보 융합 탐구  |  성적 맞춤형 조 배정 앱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082528" y="6144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 /  ROADMAP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66928" y="15636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문제의식에서 수학적 모델링, 앱 구현과 검증까지의 탐구 과정을 순서대로 소개합니다.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1993392"/>
            <a:ext cx="11027664" cy="539496"/>
          </a:xfrm>
          <a:prstGeom prst="roundRect">
            <a:avLst>
              <a:gd name="adj" fmla="val 16949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214884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536192" y="2112264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154680" y="213969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편성에서 생기는 학습 효율·공정성 문제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66928" y="2706624"/>
            <a:ext cx="11027664" cy="539496"/>
          </a:xfrm>
          <a:prstGeom prst="roundRect">
            <a:avLst>
              <a:gd name="adj" fmla="val 16949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" y="28620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536192" y="2825496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154680" y="28529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균형을 자동으로 만드는 앱 설계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66928" y="3419856"/>
            <a:ext cx="11027664" cy="539496"/>
          </a:xfrm>
          <a:prstGeom prst="roundRect">
            <a:avLst>
              <a:gd name="adj" fmla="val 16949"/>
            </a:avLst>
          </a:prstGeom>
          <a:solidFill>
            <a:srgbClr val="254A64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" y="35753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9ABE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536192" y="3538728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수학적 모델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154680" y="3566160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이분 그래프와 최대 가중치 매칭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66928" y="4133088"/>
            <a:ext cx="11027664" cy="539496"/>
          </a:xfrm>
          <a:prstGeom prst="roundRect">
            <a:avLst>
              <a:gd name="adj" fmla="val 16949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428853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536192" y="4251960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구현·검증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154680" y="4279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프롬프트, 디버깅, 테스트 결과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66928" y="4846320"/>
            <a:ext cx="11027664" cy="539496"/>
          </a:xfrm>
          <a:prstGeom prst="roundRect">
            <a:avLst>
              <a:gd name="adj" fmla="val 16949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" y="50017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536192" y="4965192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의의·확장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154680" y="4992624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이산수학 활용과 향후 발전 방향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66928" y="5779008"/>
            <a:ext cx="11027664" cy="429768"/>
          </a:xfrm>
          <a:prstGeom prst="roundRect">
            <a:avLst>
              <a:gd name="adj" fmla="val 21277"/>
            </a:avLst>
          </a:prstGeom>
          <a:solidFill>
            <a:srgbClr val="07111D"/>
          </a:solidFill>
          <a:ln w="12700">
            <a:solidFill>
              <a:srgbClr val="07111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" y="5907024"/>
            <a:ext cx="10515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DFF4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KEY QUESTION  /  수학적 최적화로 모든 조의 성적 균형을 만들 수 있을까?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 /  PROBLEM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“공정한 조 배정”이 필요한가?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66928" y="1847088"/>
            <a:ext cx="3401568" cy="2121408"/>
          </a:xfrm>
          <a:prstGeom prst="roundRect">
            <a:avLst>
              <a:gd name="adj" fmla="val 5172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2075688"/>
            <a:ext cx="118872" cy="566928"/>
          </a:xfrm>
          <a:prstGeom prst="rect">
            <a:avLst/>
          </a:prstGeom>
          <a:solidFill>
            <a:srgbClr val="FF8E79"/>
          </a:solidFill>
          <a:ln w="12700">
            <a:solidFill>
              <a:srgbClr val="FF8E7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2416" y="2066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42416" y="2359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95528" y="28803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 또는 하위권 학생이 특정 조에 몰리면 조별 학습 효율과 공정성에 문제가 생깁니다.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315968" y="1847088"/>
            <a:ext cx="3401568" cy="2121408"/>
          </a:xfrm>
          <a:prstGeom prst="roundRect">
            <a:avLst>
              <a:gd name="adj" fmla="val 5172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6280" y="2075688"/>
            <a:ext cx="118872" cy="566928"/>
          </a:xfrm>
          <a:prstGeom prst="rect">
            <a:avLst/>
          </a:prstGeom>
          <a:solidFill>
            <a:srgbClr val="FFD66D"/>
          </a:solidFill>
          <a:ln w="12700">
            <a:solidFill>
              <a:srgbClr val="FFD66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2066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91456" y="2359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4544568" y="28803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등수 순서대로 단순히 짝짓는 방식은 과목 편차나 3인 이상 조 확장에 취약합니다.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065008" y="1847088"/>
            <a:ext cx="3401568" cy="2121408"/>
          </a:xfrm>
          <a:prstGeom prst="roundRect">
            <a:avLst>
              <a:gd name="adj" fmla="val 5172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75320" y="2075688"/>
            <a:ext cx="118872" cy="566928"/>
          </a:xfrm>
          <a:prstGeom prst="rect">
            <a:avLst/>
          </a:prstGeom>
          <a:solidFill>
            <a:srgbClr val="9AF2E4"/>
          </a:solidFill>
          <a:ln w="12700">
            <a:solidFill>
              <a:srgbClr val="9AF2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40496" y="2066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540496" y="2359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293608" y="28803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조의 성적 합산 또는 평균이 균등해지도록 자동으로 조를 구성합니다.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66928" y="4572000"/>
            <a:ext cx="11027664" cy="1143000"/>
          </a:xfrm>
          <a:prstGeom prst="roundRect">
            <a:avLst>
              <a:gd name="adj" fmla="val 9600"/>
            </a:avLst>
          </a:prstGeom>
          <a:solidFill>
            <a:srgbClr val="284E4D"/>
          </a:solidFill>
          <a:ln w="12700">
            <a:solidFill>
              <a:srgbClr val="284E4D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" y="4818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011680" y="473659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-8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“학생들의 성적 균형을 수학적으로 측정하고, 가장 공정한 조합을 자동으로 찾을 수 있을까?”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  /  RESEARCH GOAL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목표와 설계 범위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66928" y="1783080"/>
            <a:ext cx="5029200" cy="3337560"/>
          </a:xfrm>
          <a:prstGeom prst="roundRect">
            <a:avLst>
              <a:gd name="adj" fmla="val 3836"/>
            </a:avLst>
          </a:prstGeom>
          <a:solidFill>
            <a:srgbClr val="284E4D"/>
          </a:solidFill>
          <a:ln w="12700">
            <a:solidFill>
              <a:srgbClr val="284E4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2084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8680" y="2670048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학생들의 성적 데이터를 기반으로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조의 성적 합산 또는 평균이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균등해지도록 자동으로 짝을 지어 주는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맞춤형 조 배정 앱을 개발한다.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68680" y="4416552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2865C7"/>
          </a:solidFill>
          <a:ln w="12700">
            <a:solidFill>
              <a:srgbClr val="2865C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44348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5" kern="0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STREAMLIT + PYTHON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1856232"/>
            <a:ext cx="5468112" cy="804672"/>
          </a:xfrm>
          <a:prstGeom prst="roundRect">
            <a:avLst>
              <a:gd name="adj" fmla="val 12500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204825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B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242048" y="20208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이름, 수학/정보 성적 점수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126480" y="2907792"/>
            <a:ext cx="5468112" cy="804672"/>
          </a:xfrm>
          <a:prstGeom prst="roundRect">
            <a:avLst>
              <a:gd name="adj" fmla="val 12500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309981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B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242048" y="30723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성적순 정렬, 균형 점수 계산, 최적 매칭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26480" y="3959352"/>
            <a:ext cx="5468112" cy="804672"/>
          </a:xfrm>
          <a:prstGeom prst="roundRect">
            <a:avLst>
              <a:gd name="adj" fmla="val 12500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2512" y="415137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B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242048" y="41239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이분 그래프 시각화와 조별 평균 결과표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40080" y="56692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설계 원칙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0080" y="5916168"/>
            <a:ext cx="10424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학생의 중복 없는 배정 · 조 평균 편차 최소화 · 결과의 시각적 설명 가능성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  /  MATHEMATICAL MODEL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이분 그래프로 관계를 모델링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66928" y="156362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집합의 학생을 나누고, 가능한 조합마다 “성적 균형 점수”를 간선의 가중치로 부여합니다.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2057400"/>
            <a:ext cx="6583680" cy="3639312"/>
          </a:xfrm>
          <a:prstGeom prst="roundRect">
            <a:avLst>
              <a:gd name="adj" fmla="val 3015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" y="2331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WEIGHTED BIPARTITE GRAPH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572768" y="3182112"/>
            <a:ext cx="3867912" cy="246888"/>
          </a:xfrm>
          <a:prstGeom prst="line">
            <a:avLst/>
          </a:prstGeom>
          <a:noFill/>
          <a:ln w="13970">
            <a:solidFill>
              <a:srgbClr val="8BBFB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72768" y="3182112"/>
            <a:ext cx="3867912" cy="1069848"/>
          </a:xfrm>
          <a:prstGeom prst="line">
            <a:avLst/>
          </a:prstGeom>
          <a:noFill/>
          <a:ln w="29210">
            <a:solidFill>
              <a:srgbClr val="FF8E7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72768" y="4005072"/>
            <a:ext cx="3867912" cy="246888"/>
          </a:xfrm>
          <a:prstGeom prst="line">
            <a:avLst/>
          </a:prstGeom>
          <a:noFill/>
          <a:ln w="13970">
            <a:solidFill>
              <a:srgbClr val="8BBFB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72768" y="4005072"/>
            <a:ext cx="3867912" cy="1069848"/>
          </a:xfrm>
          <a:prstGeom prst="line">
            <a:avLst/>
          </a:prstGeom>
          <a:noFill/>
          <a:ln w="29210">
            <a:solidFill>
              <a:srgbClr val="FF8E7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72768" y="4828032"/>
            <a:ext cx="3867912" cy="-576072"/>
          </a:xfrm>
          <a:prstGeom prst="line">
            <a:avLst/>
          </a:prstGeom>
          <a:noFill/>
          <a:ln w="13970">
            <a:solidFill>
              <a:srgbClr val="8BBFB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72768" y="4828032"/>
            <a:ext cx="3867912" cy="246888"/>
          </a:xfrm>
          <a:prstGeom prst="line">
            <a:avLst/>
          </a:prstGeom>
          <a:noFill/>
          <a:ln w="29210">
            <a:solidFill>
              <a:srgbClr val="FF8E7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34440" y="2907792"/>
            <a:ext cx="676656" cy="502920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4440" y="297180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98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234440" y="3730752"/>
            <a:ext cx="676656" cy="502920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34440" y="379476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91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234440" y="4553712"/>
            <a:ext cx="676656" cy="502920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34440" y="46177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84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66360" y="3154680"/>
            <a:ext cx="676656" cy="502920"/>
          </a:xfrm>
          <a:prstGeom prst="roundRect">
            <a:avLst>
              <a:gd name="adj" fmla="val 18182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6360" y="3218688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42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166360" y="3977640"/>
            <a:ext cx="676656" cy="502920"/>
          </a:xfrm>
          <a:prstGeom prst="roundRect">
            <a:avLst>
              <a:gd name="adj" fmla="val 18182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66360" y="4041648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51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166360" y="4800600"/>
            <a:ext cx="676656" cy="502920"/>
          </a:xfrm>
          <a:prstGeom prst="roundRect">
            <a:avLst>
              <a:gd name="adj" fmla="val 18182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66360" y="4864608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68680" y="5367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 그룹 A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4709160" y="53675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하위권 그룹 B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7589520" y="2176272"/>
            <a:ext cx="4005072" cy="822960"/>
          </a:xfrm>
          <a:prstGeom prst="roundRect">
            <a:avLst>
              <a:gd name="adj" fmla="val 11111"/>
            </a:avLst>
          </a:prstGeom>
          <a:solidFill>
            <a:srgbClr val="244C4D"/>
          </a:solidFill>
          <a:ln w="12700">
            <a:solidFill>
              <a:srgbClr val="244C4D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36408" y="23500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 Vertex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8961120" y="233172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그룹 A(상위권)와 B(하위권)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589520" y="3227832"/>
            <a:ext cx="4005072" cy="822960"/>
          </a:xfrm>
          <a:prstGeom prst="roundRect">
            <a:avLst>
              <a:gd name="adj" fmla="val 11111"/>
            </a:avLst>
          </a:prstGeom>
          <a:solidFill>
            <a:srgbClr val="244C4D"/>
          </a:solidFill>
          <a:ln w="12700">
            <a:solidFill>
              <a:srgbClr val="244C4D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36408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간선 Edge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8961120" y="338328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조가 될 수 있는 학생 조합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589520" y="4279392"/>
            <a:ext cx="4005072" cy="822960"/>
          </a:xfrm>
          <a:prstGeom prst="roundRect">
            <a:avLst>
              <a:gd name="adj" fmla="val 11111"/>
            </a:avLst>
          </a:prstGeom>
          <a:solidFill>
            <a:srgbClr val="5A4428"/>
          </a:solidFill>
          <a:ln w="12700">
            <a:solidFill>
              <a:srgbClr val="5A4428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36408" y="44531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D6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Weight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8961120" y="44348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평균이 목표 평균에 가까울수록 높은 점수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  /  WEIGHT DESIGN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“균형”을 가중치로 바꾸는 방법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66928" y="156362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학생이 한 조가 되었을 때의 평균이 전체 목표 평균에 가까울수록 더 높은 가중치를 부여합니다.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2039112"/>
            <a:ext cx="5669280" cy="3246120"/>
          </a:xfrm>
          <a:prstGeom prst="roundRect">
            <a:avLst>
              <a:gd name="adj" fmla="val 3662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" y="2331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WEIGHT FUNCTION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59536" y="2816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group_avg = (학생 A 점수 + 학생 B 점수) / 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9536" y="3401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8E7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weight = 100 - |목표 평균 - 조 평균|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59536" y="40965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거리(편차)가 작아질수록 weight 값은 커집니다.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675120" y="2148840"/>
            <a:ext cx="4919472" cy="1234440"/>
          </a:xfrm>
          <a:prstGeom prst="roundRect">
            <a:avLst>
              <a:gd name="adj" fmla="val 8889"/>
            </a:avLst>
          </a:prstGeom>
          <a:solidFill>
            <a:srgbClr val="284E4D"/>
          </a:solidFill>
          <a:ln w="12700">
            <a:solidFill>
              <a:srgbClr val="284E4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23408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A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909560" y="2313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98점 + 42점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326880" y="2313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평균 70점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49440" y="28712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목표와 동일 → 높은 가중치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675120" y="3703320"/>
            <a:ext cx="4919472" cy="1234440"/>
          </a:xfrm>
          <a:prstGeom prst="roundRect">
            <a:avLst>
              <a:gd name="adj" fmla="val 8889"/>
            </a:avLst>
          </a:prstGeom>
          <a:solidFill>
            <a:srgbClr val="5A4428"/>
          </a:solidFill>
          <a:ln w="12700">
            <a:solidFill>
              <a:srgbClr val="5A4428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0" y="389534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D6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B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909560" y="38679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98점 + 63점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326880" y="3867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평균 80.5점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49440" y="44256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목표와 멀다 → 낮은 가중치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 /  OPTIMIZATION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가중치 매칭: 가장 균형 잡힌 조합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66928" y="15636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학생은 한 번씩만 연결되고, 선택된 간선의 가중치 합은 최대가 됩니다.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2240280"/>
            <a:ext cx="2441448" cy="1920240"/>
          </a:xfrm>
          <a:prstGeom prst="roundRect">
            <a:avLst>
              <a:gd name="adj" fmla="val 5714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" y="2459736"/>
            <a:ext cx="393192" cy="393192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" y="2569464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86384" y="30540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입력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86384" y="3456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수학/정보 점수 입력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026664" y="2990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3355848" y="2240280"/>
            <a:ext cx="2441448" cy="1920240"/>
          </a:xfrm>
          <a:prstGeom prst="roundRect">
            <a:avLst>
              <a:gd name="adj" fmla="val 5714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57016" y="2459736"/>
            <a:ext cx="393192" cy="393192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57016" y="2569464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575304" y="30540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정렬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3575304" y="3456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상위권과 하위권 그룹 분리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815584" y="2990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6144768" y="2240280"/>
            <a:ext cx="2441448" cy="1920240"/>
          </a:xfrm>
          <a:prstGeom prst="roundRect">
            <a:avLst>
              <a:gd name="adj" fmla="val 5714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45936" y="2459736"/>
            <a:ext cx="393192" cy="393192"/>
          </a:xfrm>
          <a:prstGeom prst="ellipse">
            <a:avLst/>
          </a:prstGeom>
          <a:solidFill>
            <a:srgbClr val="9ABE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45936" y="2569464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64224" y="30540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계산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6364224" y="3456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평균과의 거리로 점수화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8604504" y="2990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8933688" y="2240280"/>
            <a:ext cx="2441448" cy="1920240"/>
          </a:xfrm>
          <a:prstGeom prst="roundRect">
            <a:avLst>
              <a:gd name="adj" fmla="val 5714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34856" y="2459736"/>
            <a:ext cx="393192" cy="393192"/>
          </a:xfrm>
          <a:prstGeom prst="ellipse">
            <a:avLst/>
          </a:prstGeom>
          <a:solidFill>
            <a:srgbClr val="FF8E79"/>
          </a:solidFill>
          <a:ln w="12700">
            <a:solidFill>
              <a:srgbClr val="FF8E7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34856" y="2569464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153144" y="30540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매칭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9153144" y="3456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합이 최대인 조합 선택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66928" y="4800600"/>
            <a:ext cx="11027664" cy="960120"/>
          </a:xfrm>
          <a:prstGeom prst="roundRect">
            <a:avLst>
              <a:gd name="adj" fmla="val 11429"/>
            </a:avLst>
          </a:prstGeom>
          <a:solidFill>
            <a:srgbClr val="254A64"/>
          </a:solidFill>
          <a:ln w="12700">
            <a:solidFill>
              <a:srgbClr val="254A64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0392" y="51297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B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645920" y="50566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-7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조의 성적 평균 편차가 최소가 되는 1:1 조 배정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8814816" y="5111496"/>
            <a:ext cx="2176272" cy="329184"/>
          </a:xfrm>
          <a:prstGeom prst="roundRect">
            <a:avLst>
              <a:gd name="adj" fmla="val 50000"/>
            </a:avLst>
          </a:prstGeom>
          <a:solidFill>
            <a:srgbClr val="2865C7"/>
          </a:solidFill>
          <a:ln w="12700">
            <a:solidFill>
              <a:srgbClr val="2865C7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14816" y="512978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5" kern="0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WEIGHT = MAXIMUM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  /  APP WORKFLOW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앱의 실행 흐름과 화면 구성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66928" y="1563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성적을 입력하고, 앱은 그래프와 결과표를 통해 조 배정 근거를 함께 보여줍니다.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2130552"/>
            <a:ext cx="3401568" cy="3255264"/>
          </a:xfrm>
          <a:prstGeom prst="roundRect">
            <a:avLst>
              <a:gd name="adj" fmla="val 3933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5528" y="2386584"/>
            <a:ext cx="2944368" cy="347472"/>
          </a:xfrm>
          <a:prstGeom prst="roundRect">
            <a:avLst>
              <a:gd name="adj" fmla="val 18421"/>
            </a:avLst>
          </a:prstGeom>
          <a:solidFill>
            <a:srgbClr val="254A64"/>
          </a:solidFill>
          <a:ln w="12700">
            <a:solidFill>
              <a:srgbClr val="254A6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24871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9ABE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 입력 화면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296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이름과 수학/정보 성적 입력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22960" y="3502152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15263A"/>
          </a:solidFill>
          <a:ln w="12700">
            <a:solidFill>
              <a:srgbClr val="15263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9848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학생 A  98점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학생 B  42점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학생 C  91점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학생 D  51점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931920" y="36393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4315968" y="2130552"/>
            <a:ext cx="3401568" cy="3255264"/>
          </a:xfrm>
          <a:prstGeom prst="roundRect">
            <a:avLst>
              <a:gd name="adj" fmla="val 3933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44568" y="2386584"/>
            <a:ext cx="2944368" cy="347472"/>
          </a:xfrm>
          <a:prstGeom prst="roundRect">
            <a:avLst>
              <a:gd name="adj" fmla="val 18421"/>
            </a:avLst>
          </a:prstGeom>
          <a:solidFill>
            <a:srgbClr val="284E4D"/>
          </a:solidFill>
          <a:ln w="12700">
            <a:solidFill>
              <a:srgbClr val="284E4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24871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 그래프 화면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가중치가 있는 학생 조합 시각화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572000" y="3502152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15263A"/>
          </a:solidFill>
          <a:ln w="12700">
            <a:solidFill>
              <a:srgbClr val="15263A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18888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98  ━━━ 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91  ━━━  51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84  ━━━  63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680960" y="36393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065008" y="2130552"/>
            <a:ext cx="3401568" cy="3255264"/>
          </a:xfrm>
          <a:prstGeom prst="roundRect">
            <a:avLst>
              <a:gd name="adj" fmla="val 3933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93608" y="2386584"/>
            <a:ext cx="2944368" cy="347472"/>
          </a:xfrm>
          <a:prstGeom prst="roundRect">
            <a:avLst>
              <a:gd name="adj" fmla="val 18421"/>
            </a:avLst>
          </a:prstGeom>
          <a:solidFill>
            <a:srgbClr val="5A4428"/>
          </a:solidFill>
          <a:ln w="12700">
            <a:solidFill>
              <a:srgbClr val="5A4428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0" y="24871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D6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 결과 화면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32104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조별 평균과 배정 결과 확인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321040" y="3502152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15263A"/>
          </a:solidFill>
          <a:ln w="12700">
            <a:solidFill>
              <a:srgbClr val="15263A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67928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1조  98 + 42 = 70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2조  91 + 51 = 71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711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3조  84 + 63 = 73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66928" y="582472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최적화 → 시각화의 과정을 한 화면 흐름으로 제공하여 결과를 쉽게 설명할 수 있도록 구성했습니다.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  /  VIBE CODING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대화로 알고리즘을 개선하다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66928" y="1810512"/>
            <a:ext cx="11027664" cy="960120"/>
          </a:xfrm>
          <a:prstGeom prst="roundRect">
            <a:avLst>
              <a:gd name="adj" fmla="val 11429"/>
            </a:avLst>
          </a:prstGeom>
          <a:solidFill>
            <a:srgbClr val="254A64"/>
          </a:solidFill>
          <a:ln w="12700">
            <a:solidFill>
              <a:srgbClr val="254A6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" y="199339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1차 지시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48840" y="1956816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8명의 성적을 입력받아 2명씩 4개 조로 묶는 기본 화면과 알고리즘을 만들어줘.</a:t>
            </a:r>
            <a:endParaRPr lang="en-US" sz="1230" dirty="0"/>
          </a:p>
        </p:txBody>
      </p:sp>
      <p:sp>
        <p:nvSpPr>
          <p:cNvPr id="47" name="Shape 45"/>
          <p:cNvSpPr/>
          <p:nvPr/>
        </p:nvSpPr>
        <p:spPr>
          <a:xfrm>
            <a:off x="566928" y="3063240"/>
            <a:ext cx="11027664" cy="960120"/>
          </a:xfrm>
          <a:prstGeom prst="roundRect">
            <a:avLst>
              <a:gd name="adj" fmla="val 11429"/>
            </a:avLst>
          </a:prstGeom>
          <a:solidFill>
            <a:srgbClr val="623B3A"/>
          </a:solidFill>
          <a:ln w="12700">
            <a:solidFill>
              <a:srgbClr val="623B3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" y="32461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8E7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발견한 오류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48840" y="3209544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“1등-8등, 2등-7등” 식의 단순 순서 매칭을 수행. 과목 편차와 다인 조 확장에서 점수 편향 발생.</a:t>
            </a:r>
            <a:endParaRPr lang="en-US" sz="1230" dirty="0"/>
          </a:p>
        </p:txBody>
      </p:sp>
      <p:sp>
        <p:nvSpPr>
          <p:cNvPr id="50" name="Shape 48"/>
          <p:cNvSpPr/>
          <p:nvPr/>
        </p:nvSpPr>
        <p:spPr>
          <a:xfrm>
            <a:off x="566928" y="4315968"/>
            <a:ext cx="11027664" cy="960120"/>
          </a:xfrm>
          <a:prstGeom prst="roundRect">
            <a:avLst>
              <a:gd name="adj" fmla="val 11429"/>
            </a:avLst>
          </a:prstGeom>
          <a:solidFill>
            <a:srgbClr val="284E4D"/>
          </a:solidFill>
          <a:ln w="12700">
            <a:solidFill>
              <a:srgbClr val="284E4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" y="44988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2차 지시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148840" y="4462272"/>
            <a:ext cx="8915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평균과 전체 평균의 편차를 손실 가중치로 계산하고, 그 합이 최소가 되도록 매칭 로직을 수정해줘.</a:t>
            </a:r>
            <a:endParaRPr lang="en-US" sz="1230" dirty="0"/>
          </a:p>
        </p:txBody>
      </p:sp>
      <p:sp>
        <p:nvSpPr>
          <p:cNvPr id="53" name="Shape 51"/>
          <p:cNvSpPr/>
          <p:nvPr/>
        </p:nvSpPr>
        <p:spPr>
          <a:xfrm>
            <a:off x="566928" y="5669280"/>
            <a:ext cx="11027664" cy="493776"/>
          </a:xfrm>
          <a:prstGeom prst="roundRect">
            <a:avLst>
              <a:gd name="adj" fmla="val 18519"/>
            </a:avLst>
          </a:prstGeom>
          <a:solidFill>
            <a:srgbClr val="07111D"/>
          </a:solidFill>
          <a:ln w="12700">
            <a:solidFill>
              <a:srgbClr val="07111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" y="5797296"/>
            <a:ext cx="10515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F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디버깅: 수학적 목적함수와 제약조건을 프롬프트에 명확히 표현해야 AI가 올바른 알고리즘을 구현한다.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  /  CORE LOGIC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균형 가중치 계산 로직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66928" y="1764792"/>
            <a:ext cx="5852160" cy="4187952"/>
          </a:xfrm>
          <a:prstGeom prst="roundRect">
            <a:avLst>
              <a:gd name="adj" fmla="val 3057"/>
            </a:avLst>
          </a:prstGeom>
          <a:solidFill>
            <a:srgbClr val="07111D"/>
          </a:solidFill>
          <a:ln w="12700">
            <a:solidFill>
              <a:srgbClr val="07111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2057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90" kern="0" dirty="0">
                <a:solidFill>
                  <a:srgbClr val="7FE1C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/ WEIGHT FUNCTION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41248" y="2514600"/>
            <a:ext cx="5257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FF4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calculate_edge_weight(student_a_score,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FF4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          student_b_score, target_avg):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FF4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group_avg = (student_a_score + student_b_score) / 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FF4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목표 평균과 가까울수록 우선순위를 높인다.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FF4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weight = 100 - abs(target_avg - group_avg)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FF4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weight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FF4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이분 그래프에서 가중치 합이 가장 높은 짝을 매칭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03720" y="1901952"/>
            <a:ext cx="4690872" cy="859536"/>
          </a:xfrm>
          <a:prstGeom prst="roundRect">
            <a:avLst>
              <a:gd name="adj" fmla="val 11702"/>
            </a:avLst>
          </a:prstGeom>
          <a:solidFill>
            <a:srgbClr val="244C4D"/>
          </a:solidFill>
          <a:ln w="12700">
            <a:solidFill>
              <a:srgbClr val="244C4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87184" y="20939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165592" y="208483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학생의 점수와 목표 평균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03720" y="3026664"/>
            <a:ext cx="4690872" cy="859536"/>
          </a:xfrm>
          <a:prstGeom prst="roundRect">
            <a:avLst>
              <a:gd name="adj" fmla="val 11702"/>
            </a:avLst>
          </a:prstGeom>
          <a:solidFill>
            <a:srgbClr val="5A4428"/>
          </a:solidFill>
          <a:ln w="12700">
            <a:solidFill>
              <a:srgbClr val="5A442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87184" y="3218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D6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165592" y="3209544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평균과 목표 평균의 거리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03720" y="4151376"/>
            <a:ext cx="4690872" cy="859536"/>
          </a:xfrm>
          <a:prstGeom prst="roundRect">
            <a:avLst>
              <a:gd name="adj" fmla="val 11702"/>
            </a:avLst>
          </a:prstGeom>
          <a:solidFill>
            <a:srgbClr val="244C4D"/>
          </a:solidFill>
          <a:ln w="12700">
            <a:solidFill>
              <a:srgbClr val="244C4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87184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165592" y="4334256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균형이 좋을수록 높은 가중치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903720" y="5413248"/>
            <a:ext cx="4023360" cy="329184"/>
          </a:xfrm>
          <a:prstGeom prst="roundRect">
            <a:avLst>
              <a:gd name="adj" fmla="val 50000"/>
            </a:avLst>
          </a:prstGeom>
          <a:solidFill>
            <a:srgbClr val="2865C7"/>
          </a:solidFill>
          <a:ln w="12700">
            <a:solidFill>
              <a:srgbClr val="2865C7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54315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5" kern="0" dirty="0">
                <a:solidFill>
                  <a:srgbClr val="1E30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WEIGHT = 100 - |TARGET AVG - GROUP AVG|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  /  RESULTS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결과: 조별 평균 오차 2.5점 이내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66928" y="15636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40점~100점 사이의 학생 12명을 대상으로 조 편성 결과를 확인했습니다.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2103120"/>
            <a:ext cx="7315200" cy="3401568"/>
          </a:xfrm>
          <a:prstGeom prst="roundRect">
            <a:avLst>
              <a:gd name="adj" fmla="val 3226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23591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 AVERAGE SCORE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143000" y="4956048"/>
            <a:ext cx="6126480" cy="0"/>
          </a:xfrm>
          <a:prstGeom prst="line">
            <a:avLst/>
          </a:prstGeom>
          <a:noFill/>
          <a:ln w="12700">
            <a:solidFill>
              <a:srgbClr val="9CBAB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3000" y="2944368"/>
            <a:ext cx="0" cy="2011680"/>
          </a:xfrm>
          <a:prstGeom prst="line">
            <a:avLst/>
          </a:prstGeom>
          <a:noFill/>
          <a:ln w="12700">
            <a:solidFill>
              <a:srgbClr val="9CBAB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3000" y="4078224"/>
            <a:ext cx="6126480" cy="0"/>
          </a:xfrm>
          <a:prstGeom prst="line">
            <a:avLst/>
          </a:prstGeom>
          <a:noFill/>
          <a:ln w="7620">
            <a:solidFill>
              <a:srgbClr val="DCE8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39959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143000" y="3200400"/>
            <a:ext cx="6126480" cy="0"/>
          </a:xfrm>
          <a:prstGeom prst="line">
            <a:avLst/>
          </a:prstGeom>
          <a:noFill/>
          <a:ln w="7620">
            <a:solidFill>
              <a:srgbClr val="DCE8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" y="311810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1143000" y="2322576"/>
            <a:ext cx="6126480" cy="0"/>
          </a:xfrm>
          <a:prstGeom prst="line">
            <a:avLst/>
          </a:prstGeom>
          <a:noFill/>
          <a:ln w="7620">
            <a:solidFill>
              <a:srgbClr val="DCE8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224028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463040" y="3200400"/>
            <a:ext cx="274320" cy="1755648"/>
          </a:xfrm>
          <a:prstGeom prst="roundRect">
            <a:avLst>
              <a:gd name="adj" fmla="val 13333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3639312"/>
            <a:ext cx="274320" cy="1316736"/>
          </a:xfrm>
          <a:prstGeom prst="roundRect">
            <a:avLst>
              <a:gd name="adj" fmla="val 13333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078224"/>
            <a:ext cx="274320" cy="877824"/>
          </a:xfrm>
          <a:prstGeom prst="roundRect">
            <a:avLst>
              <a:gd name="adj" fmla="val 13333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34640" y="4517136"/>
            <a:ext cx="274320" cy="438912"/>
          </a:xfrm>
          <a:prstGeom prst="roundRect">
            <a:avLst>
              <a:gd name="adj" fmla="val 13333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91840" y="2761488"/>
            <a:ext cx="274320" cy="2194560"/>
          </a:xfrm>
          <a:prstGeom prst="roundRect">
            <a:avLst>
              <a:gd name="adj" fmla="val 13333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49040" y="4078224"/>
            <a:ext cx="274320" cy="877824"/>
          </a:xfrm>
          <a:prstGeom prst="roundRect">
            <a:avLst>
              <a:gd name="adj" fmla="val 13333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06240" y="3639312"/>
            <a:ext cx="274320" cy="1316736"/>
          </a:xfrm>
          <a:prstGeom prst="roundRect">
            <a:avLst>
              <a:gd name="adj" fmla="val 13333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63440" y="3200400"/>
            <a:ext cx="274320" cy="1755648"/>
          </a:xfrm>
          <a:prstGeom prst="roundRect">
            <a:avLst>
              <a:gd name="adj" fmla="val 13333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20640" y="4517136"/>
            <a:ext cx="274320" cy="438912"/>
          </a:xfrm>
          <a:prstGeom prst="roundRect">
            <a:avLst>
              <a:gd name="adj" fmla="val 13333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77840" y="4078224"/>
            <a:ext cx="274320" cy="877824"/>
          </a:xfrm>
          <a:prstGeom prst="roundRect">
            <a:avLst>
              <a:gd name="adj" fmla="val 13333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35040" y="3200400"/>
            <a:ext cx="274320" cy="1755648"/>
          </a:xfrm>
          <a:prstGeom prst="roundRect">
            <a:avLst>
              <a:gd name="adj" fmla="val 13333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92240" y="3639312"/>
            <a:ext cx="274320" cy="1316736"/>
          </a:xfrm>
          <a:prstGeom prst="roundRect">
            <a:avLst>
              <a:gd name="adj" fmla="val 13333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71600" y="5102352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1조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2743200" y="5102352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2조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4114800" y="5102352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3조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486400" y="5102352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8321040" y="2148840"/>
            <a:ext cx="3273552" cy="768096"/>
          </a:xfrm>
          <a:prstGeom prst="roundRect">
            <a:avLst>
              <a:gd name="adj" fmla="val 11905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49640" y="22951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AB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12명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9829800" y="2359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학생 수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8321040" y="3154680"/>
            <a:ext cx="3273552" cy="768096"/>
          </a:xfrm>
          <a:prstGeom prst="roundRect">
            <a:avLst>
              <a:gd name="adj" fmla="val 11905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549640" y="33009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AB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40~100점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9829800" y="33649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분포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8321040" y="4160520"/>
            <a:ext cx="3273552" cy="768096"/>
          </a:xfrm>
          <a:prstGeom prst="roundRect">
            <a:avLst>
              <a:gd name="adj" fmla="val 11905"/>
            </a:avLst>
          </a:prstGeom>
          <a:solidFill>
            <a:srgbClr val="284E4D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49640" y="4306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2.5점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9829800" y="4370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평균 오차 범위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566928" y="5815584"/>
            <a:ext cx="11027664" cy="438912"/>
          </a:xfrm>
          <a:prstGeom prst="roundRect">
            <a:avLst>
              <a:gd name="adj" fmla="val 20833"/>
            </a:avLst>
          </a:prstGeom>
          <a:solidFill>
            <a:srgbClr val="254A64"/>
          </a:solidFill>
          <a:ln w="12700">
            <a:solidFill>
              <a:srgbClr val="254A64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2104" y="5943600"/>
            <a:ext cx="10515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균형이라는 목적함수를 명확히 적용하자, 모든 조가 거의 동일한 평균 점수로 배정되었습니다.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  /  LIMITATIONS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한계점과 향후 발전 방향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66928" y="1828800"/>
            <a:ext cx="11027664" cy="832104"/>
          </a:xfrm>
          <a:prstGeom prst="roundRect">
            <a:avLst>
              <a:gd name="adj" fmla="val 13187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" y="2011680"/>
            <a:ext cx="91440" cy="457200"/>
          </a:xfrm>
          <a:prstGeom prst="rect">
            <a:avLst/>
          </a:prstGeom>
          <a:solidFill>
            <a:srgbClr val="FF8E79"/>
          </a:solidFill>
          <a:ln w="12700">
            <a:solidFill>
              <a:srgbClr val="FF8E7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5568" y="201168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8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304288" y="198424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과목 성적만 고려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00600" y="200253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다양한 학습 역량을 모두 반영하지 못함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66928" y="2907792"/>
            <a:ext cx="11027664" cy="832104"/>
          </a:xfrm>
          <a:prstGeom prst="roundRect">
            <a:avLst>
              <a:gd name="adj" fmla="val 13187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3090672"/>
            <a:ext cx="91440" cy="457200"/>
          </a:xfrm>
          <a:prstGeom prst="rect">
            <a:avLst/>
          </a:prstGeom>
          <a:solidFill>
            <a:srgbClr val="FF8E79"/>
          </a:solidFill>
          <a:ln w="12700">
            <a:solidFill>
              <a:srgbClr val="FF8E7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5568" y="3090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8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304288" y="306324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친밀도·선호도 미반영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800600" y="3081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수학적으로 균형이어도 협업 만족도가 낮을 수 있음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66928" y="3986784"/>
            <a:ext cx="11027664" cy="832104"/>
          </a:xfrm>
          <a:prstGeom prst="roundRect">
            <a:avLst>
              <a:gd name="adj" fmla="val 13187"/>
            </a:avLst>
          </a:prstGeom>
          <a:solidFill>
            <a:srgbClr val="284E4D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4672" y="4169664"/>
            <a:ext cx="91440" cy="457200"/>
          </a:xfrm>
          <a:prstGeom prst="rect">
            <a:avLst/>
          </a:prstGeom>
          <a:solidFill>
            <a:srgbClr val="9AF2E4"/>
          </a:solidFill>
          <a:ln w="12700">
            <a:solidFill>
              <a:srgbClr val="9AF2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5568" y="41696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AF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2304288" y="4142232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가중치 매칭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4160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+ 선호도 + 친밀도를 함께 최적화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66928" y="5468112"/>
            <a:ext cx="11027664" cy="612648"/>
          </a:xfrm>
          <a:prstGeom prst="roundRect">
            <a:avLst>
              <a:gd name="adj" fmla="val 17910"/>
            </a:avLst>
          </a:prstGeom>
          <a:solidFill>
            <a:srgbClr val="254A64"/>
          </a:solidFill>
          <a:ln w="12700">
            <a:solidFill>
              <a:srgbClr val="254A64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" y="5696712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B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Multi-objective Bipartite Matching  =  여러 기준을 동시에 고려하는 더 현실적인 조 배정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653796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 / MATCH / LEARN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109960" y="6537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4704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26496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37392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48288" y="786384"/>
            <a:ext cx="0" cy="36576"/>
          </a:xfrm>
          <a:prstGeom prst="line">
            <a:avLst/>
          </a:prstGeom>
          <a:noFill/>
          <a:ln w="5715">
            <a:solidFill>
              <a:srgbClr val="385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5047488"/>
            <a:ext cx="2057400" cy="2057400"/>
          </a:xfrm>
          <a:prstGeom prst="arc">
            <a:avLst/>
          </a:prstGeom>
          <a:noFill/>
          <a:ln w="63500">
            <a:solidFill>
              <a:srgbClr val="4E857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55046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85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66928" y="283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F2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  /  CONCLUSION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82912" y="283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LAB /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5872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960120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-14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수학적 모델링이 만든 더 공정한 교실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66928" y="1901952"/>
            <a:ext cx="3401568" cy="2487168"/>
          </a:xfrm>
          <a:prstGeom prst="roundRect">
            <a:avLst>
              <a:gd name="adj" fmla="val 4412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" y="214884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9AF2E4"/>
          </a:solidFill>
          <a:ln w="12700">
            <a:solidFill>
              <a:srgbClr val="9AF2E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2468880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95528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이산수학의 실용성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95528" y="333756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추상적인 가중치 그래프 이론이 실제 학급 운영의 공정한 조 배정 문제를 해결할 수 있음을 확인했습니다.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315968" y="1901952"/>
            <a:ext cx="3401568" cy="2487168"/>
          </a:xfrm>
          <a:prstGeom prst="roundRect">
            <a:avLst>
              <a:gd name="adj" fmla="val 4412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44568" y="214884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8E79"/>
          </a:solidFill>
          <a:ln w="12700">
            <a:solidFill>
              <a:srgbClr val="FF8E79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53712" y="2468880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44568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디버깅의 핵심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4544568" y="333756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원하는 결과가 아니라 목적함수와 제약조건을 수학적으로 알려줘야 정확한 구현이 가능합니다.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065008" y="1901952"/>
            <a:ext cx="3401568" cy="2487168"/>
          </a:xfrm>
          <a:prstGeom prst="roundRect">
            <a:avLst>
              <a:gd name="adj" fmla="val 4412"/>
            </a:avLst>
          </a:prstGeom>
          <a:solidFill>
            <a:srgbClr val="1E3045"/>
          </a:solidFill>
          <a:ln w="12700">
            <a:solidFill>
              <a:srgbClr val="58728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93608" y="214884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D66D"/>
          </a:solidFill>
          <a:ln w="12700">
            <a:solidFill>
              <a:srgbClr val="FFD66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02752" y="2468880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293608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발전 방향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293608" y="333756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D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성적에 학생 친밀도와 선호도까지 더한 다중 가중치 이분 매칭으로 확장할 계획입니다.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66928" y="5074920"/>
            <a:ext cx="11027664" cy="804672"/>
          </a:xfrm>
          <a:prstGeom prst="roundRect">
            <a:avLst>
              <a:gd name="adj" fmla="val 13636"/>
            </a:avLst>
          </a:prstGeom>
          <a:solidFill>
            <a:srgbClr val="07111D"/>
          </a:solidFill>
          <a:ln w="12700">
            <a:solidFill>
              <a:srgbClr val="07111D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" y="5340096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-70" kern="0" dirty="0">
                <a:solidFill>
                  <a:srgbClr val="1E30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“공정함”을 직관이 아닌, 측정 가능한 가중치와 최적화 문제로 바꾸다.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566928" y="6108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C847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899648" y="61081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2DD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&amp; 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Discrete Mathematics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가중치 이분 그래프로 공정한 조를 설계하다</dc:title>
  <dc:subject>가중치 이분 그래프 기반 성적 맞춤형 조 배정 앱</dc:subject>
  <dc:creator>OpenCode</dc:creator>
  <cp:lastModifiedBy>OpenCode</cp:lastModifiedBy>
  <cp:revision>1</cp:revision>
  <dcterms:created xsi:type="dcterms:W3CDTF">2026-07-29T01:26:30Z</dcterms:created>
  <dcterms:modified xsi:type="dcterms:W3CDTF">2026-07-29T01:26:30Z</dcterms:modified>
</cp:coreProperties>
</file>